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D1641C-C311-4298-8C3D-652AA7B7A33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7A3E9C-16A8-40EA-947C-09FED00A3582}">
      <dgm:prSet/>
      <dgm:spPr/>
      <dgm:t>
        <a:bodyPr/>
        <a:lstStyle/>
        <a:p>
          <a:pPr algn="ctr"/>
          <a:r>
            <a:rPr lang="en-GB" dirty="0"/>
            <a:t>Bevnoty Mamdouh Beshay Bekhit Gerges 2300536</a:t>
          </a:r>
          <a:endParaRPr lang="en-US" dirty="0"/>
        </a:p>
      </dgm:t>
    </dgm:pt>
    <dgm:pt modelId="{EBC15CD1-82EC-435B-B787-5D855F55F910}" type="parTrans" cxnId="{3747F384-594C-40D7-A422-C700B3DD3941}">
      <dgm:prSet/>
      <dgm:spPr/>
      <dgm:t>
        <a:bodyPr/>
        <a:lstStyle/>
        <a:p>
          <a:endParaRPr lang="en-US"/>
        </a:p>
      </dgm:t>
    </dgm:pt>
    <dgm:pt modelId="{61DC319D-3F8D-4ABE-9EA6-C2272117CFBF}" type="sibTrans" cxnId="{3747F384-594C-40D7-A422-C700B3DD3941}">
      <dgm:prSet/>
      <dgm:spPr/>
      <dgm:t>
        <a:bodyPr/>
        <a:lstStyle/>
        <a:p>
          <a:endParaRPr lang="en-US"/>
        </a:p>
      </dgm:t>
    </dgm:pt>
    <dgm:pt modelId="{FC51053D-645F-4521-9EE2-485257B17FC0}">
      <dgm:prSet/>
      <dgm:spPr/>
      <dgm:t>
        <a:bodyPr/>
        <a:lstStyle/>
        <a:p>
          <a:pPr algn="ctr"/>
          <a:r>
            <a:rPr lang="en-GB" dirty="0"/>
            <a:t>Andrew Ashraf Ibrahim 2300540</a:t>
          </a:r>
          <a:endParaRPr lang="en-US" dirty="0"/>
        </a:p>
      </dgm:t>
    </dgm:pt>
    <dgm:pt modelId="{2F1555E2-59DA-4554-A459-D340888CBC03}" type="parTrans" cxnId="{B56766BD-F361-4AD7-9C32-16A5E7BDDD98}">
      <dgm:prSet/>
      <dgm:spPr/>
      <dgm:t>
        <a:bodyPr/>
        <a:lstStyle/>
        <a:p>
          <a:endParaRPr lang="en-US"/>
        </a:p>
      </dgm:t>
    </dgm:pt>
    <dgm:pt modelId="{6DCA4680-C1E1-45A8-85F1-919348837636}" type="sibTrans" cxnId="{B56766BD-F361-4AD7-9C32-16A5E7BDDD98}">
      <dgm:prSet/>
      <dgm:spPr/>
      <dgm:t>
        <a:bodyPr/>
        <a:lstStyle/>
        <a:p>
          <a:endParaRPr lang="en-US"/>
        </a:p>
      </dgm:t>
    </dgm:pt>
    <dgm:pt modelId="{5D9450DA-E1FB-4B8B-B0B0-3C13E396F371}">
      <dgm:prSet/>
      <dgm:spPr/>
      <dgm:t>
        <a:bodyPr/>
        <a:lstStyle/>
        <a:p>
          <a:pPr algn="ctr"/>
          <a:r>
            <a:rPr lang="en-GB" dirty="0"/>
            <a:t>Amr Danny Aly 2300515</a:t>
          </a:r>
          <a:endParaRPr lang="en-US" dirty="0"/>
        </a:p>
      </dgm:t>
    </dgm:pt>
    <dgm:pt modelId="{8ECD9EF7-EEE2-4425-94C6-4A4FE627CF57}" type="parTrans" cxnId="{E3A17725-D196-47B0-A2BA-2BA5F987C28F}">
      <dgm:prSet/>
      <dgm:spPr/>
      <dgm:t>
        <a:bodyPr/>
        <a:lstStyle/>
        <a:p>
          <a:endParaRPr lang="en-US"/>
        </a:p>
      </dgm:t>
    </dgm:pt>
    <dgm:pt modelId="{D947669E-9D75-4C92-B389-A7EB9EA52CFC}" type="sibTrans" cxnId="{E3A17725-D196-47B0-A2BA-2BA5F987C28F}">
      <dgm:prSet/>
      <dgm:spPr/>
      <dgm:t>
        <a:bodyPr/>
        <a:lstStyle/>
        <a:p>
          <a:endParaRPr lang="en-US"/>
        </a:p>
      </dgm:t>
    </dgm:pt>
    <dgm:pt modelId="{7B906F38-DB53-4A90-800F-F169CFA2DDD1}">
      <dgm:prSet/>
      <dgm:spPr/>
      <dgm:t>
        <a:bodyPr/>
        <a:lstStyle/>
        <a:p>
          <a:pPr algn="ctr"/>
          <a:r>
            <a:rPr lang="en-GB" dirty="0"/>
            <a:t>Mohamed Mostafa Mohamed Mostafa Elshamy 2300487</a:t>
          </a:r>
          <a:endParaRPr lang="en-US" dirty="0"/>
        </a:p>
      </dgm:t>
    </dgm:pt>
    <dgm:pt modelId="{FA095EA4-BEBE-4441-AAE5-72A484A5F529}" type="parTrans" cxnId="{E5670E3D-DD84-4E60-B802-7FA84B687C0F}">
      <dgm:prSet/>
      <dgm:spPr/>
      <dgm:t>
        <a:bodyPr/>
        <a:lstStyle/>
        <a:p>
          <a:endParaRPr lang="en-US"/>
        </a:p>
      </dgm:t>
    </dgm:pt>
    <dgm:pt modelId="{5749981B-EDF7-405E-AB99-3F3BDDE3FCD2}" type="sibTrans" cxnId="{E5670E3D-DD84-4E60-B802-7FA84B687C0F}">
      <dgm:prSet/>
      <dgm:spPr/>
      <dgm:t>
        <a:bodyPr/>
        <a:lstStyle/>
        <a:p>
          <a:endParaRPr lang="en-US"/>
        </a:p>
      </dgm:t>
    </dgm:pt>
    <dgm:pt modelId="{ACDE3B91-FD53-4087-8550-A074D374D5C7}">
      <dgm:prSet/>
      <dgm:spPr/>
      <dgm:t>
        <a:bodyPr/>
        <a:lstStyle/>
        <a:p>
          <a:pPr algn="ctr"/>
          <a:r>
            <a:rPr lang="en-GB" dirty="0"/>
            <a:t>Mohamed Ahmed Mohamed Ahmed Taha Smaha 2300531</a:t>
          </a:r>
          <a:endParaRPr lang="en-US" dirty="0"/>
        </a:p>
      </dgm:t>
    </dgm:pt>
    <dgm:pt modelId="{7F7C1999-9647-47ED-846A-1043EDFD12F8}" type="parTrans" cxnId="{296CFF94-8523-4379-A8A2-D8322214F542}">
      <dgm:prSet/>
      <dgm:spPr/>
      <dgm:t>
        <a:bodyPr/>
        <a:lstStyle/>
        <a:p>
          <a:endParaRPr lang="en-US"/>
        </a:p>
      </dgm:t>
    </dgm:pt>
    <dgm:pt modelId="{8F487656-8A8F-46FD-A5F8-2BEBD6084902}" type="sibTrans" cxnId="{296CFF94-8523-4379-A8A2-D8322214F542}">
      <dgm:prSet/>
      <dgm:spPr/>
      <dgm:t>
        <a:bodyPr/>
        <a:lstStyle/>
        <a:p>
          <a:endParaRPr lang="en-US"/>
        </a:p>
      </dgm:t>
    </dgm:pt>
    <dgm:pt modelId="{1908539C-9E16-426A-8601-F0EE8CE2266F}" type="pres">
      <dgm:prSet presAssocID="{26D1641C-C311-4298-8C3D-652AA7B7A33E}" presName="linear" presStyleCnt="0">
        <dgm:presLayoutVars>
          <dgm:animLvl val="lvl"/>
          <dgm:resizeHandles val="exact"/>
        </dgm:presLayoutVars>
      </dgm:prSet>
      <dgm:spPr/>
    </dgm:pt>
    <dgm:pt modelId="{EC7D1394-A6F1-4FEB-B6CE-F68B04CD38E7}" type="pres">
      <dgm:prSet presAssocID="{5C7A3E9C-16A8-40EA-947C-09FED00A358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38E6B10-A851-4636-88D1-EC863A2B6226}" type="pres">
      <dgm:prSet presAssocID="{61DC319D-3F8D-4ABE-9EA6-C2272117CFBF}" presName="spacer" presStyleCnt="0"/>
      <dgm:spPr/>
    </dgm:pt>
    <dgm:pt modelId="{B6922AEA-2939-4219-9509-739307262E6F}" type="pres">
      <dgm:prSet presAssocID="{FC51053D-645F-4521-9EE2-485257B17FC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2437764-8508-464B-B609-E6AD58F99D82}" type="pres">
      <dgm:prSet presAssocID="{6DCA4680-C1E1-45A8-85F1-919348837636}" presName="spacer" presStyleCnt="0"/>
      <dgm:spPr/>
    </dgm:pt>
    <dgm:pt modelId="{7EC6AB54-A73D-4637-8C30-346ABF5FD58F}" type="pres">
      <dgm:prSet presAssocID="{5D9450DA-E1FB-4B8B-B0B0-3C13E396F37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E9FC884-A061-49E8-BA10-2CDFBBC408EA}" type="pres">
      <dgm:prSet presAssocID="{D947669E-9D75-4C92-B389-A7EB9EA52CFC}" presName="spacer" presStyleCnt="0"/>
      <dgm:spPr/>
    </dgm:pt>
    <dgm:pt modelId="{BB32ABBC-93D5-4FC6-8699-E7512A5CB11C}" type="pres">
      <dgm:prSet presAssocID="{7B906F38-DB53-4A90-800F-F169CFA2DDD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AA83A72-DB02-4CF7-9CB9-4BBF00AC6DD0}" type="pres">
      <dgm:prSet presAssocID="{5749981B-EDF7-405E-AB99-3F3BDDE3FCD2}" presName="spacer" presStyleCnt="0"/>
      <dgm:spPr/>
    </dgm:pt>
    <dgm:pt modelId="{918AF50E-7ACF-42EC-90B2-6AE30DD015F1}" type="pres">
      <dgm:prSet presAssocID="{ACDE3B91-FD53-4087-8550-A074D374D5C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7A5691D-4490-4506-B8B6-5B9E0CAAEFCA}" type="presOf" srcId="{26D1641C-C311-4298-8C3D-652AA7B7A33E}" destId="{1908539C-9E16-426A-8601-F0EE8CE2266F}" srcOrd="0" destOrd="0" presId="urn:microsoft.com/office/officeart/2005/8/layout/vList2"/>
    <dgm:cxn modelId="{E3A17725-D196-47B0-A2BA-2BA5F987C28F}" srcId="{26D1641C-C311-4298-8C3D-652AA7B7A33E}" destId="{5D9450DA-E1FB-4B8B-B0B0-3C13E396F371}" srcOrd="2" destOrd="0" parTransId="{8ECD9EF7-EEE2-4425-94C6-4A4FE627CF57}" sibTransId="{D947669E-9D75-4C92-B389-A7EB9EA52CFC}"/>
    <dgm:cxn modelId="{E5670E3D-DD84-4E60-B802-7FA84B687C0F}" srcId="{26D1641C-C311-4298-8C3D-652AA7B7A33E}" destId="{7B906F38-DB53-4A90-800F-F169CFA2DDD1}" srcOrd="3" destOrd="0" parTransId="{FA095EA4-BEBE-4441-AAE5-72A484A5F529}" sibTransId="{5749981B-EDF7-405E-AB99-3F3BDDE3FCD2}"/>
    <dgm:cxn modelId="{20277E80-AEEE-4193-AE74-77B0775DF688}" type="presOf" srcId="{ACDE3B91-FD53-4087-8550-A074D374D5C7}" destId="{918AF50E-7ACF-42EC-90B2-6AE30DD015F1}" srcOrd="0" destOrd="0" presId="urn:microsoft.com/office/officeart/2005/8/layout/vList2"/>
    <dgm:cxn modelId="{3747F384-594C-40D7-A422-C700B3DD3941}" srcId="{26D1641C-C311-4298-8C3D-652AA7B7A33E}" destId="{5C7A3E9C-16A8-40EA-947C-09FED00A3582}" srcOrd="0" destOrd="0" parTransId="{EBC15CD1-82EC-435B-B787-5D855F55F910}" sibTransId="{61DC319D-3F8D-4ABE-9EA6-C2272117CFBF}"/>
    <dgm:cxn modelId="{296CFF94-8523-4379-A8A2-D8322214F542}" srcId="{26D1641C-C311-4298-8C3D-652AA7B7A33E}" destId="{ACDE3B91-FD53-4087-8550-A074D374D5C7}" srcOrd="4" destOrd="0" parTransId="{7F7C1999-9647-47ED-846A-1043EDFD12F8}" sibTransId="{8F487656-8A8F-46FD-A5F8-2BEBD6084902}"/>
    <dgm:cxn modelId="{D3D6CCA4-DC55-4685-822B-EB600823727C}" type="presOf" srcId="{7B906F38-DB53-4A90-800F-F169CFA2DDD1}" destId="{BB32ABBC-93D5-4FC6-8699-E7512A5CB11C}" srcOrd="0" destOrd="0" presId="urn:microsoft.com/office/officeart/2005/8/layout/vList2"/>
    <dgm:cxn modelId="{B56766BD-F361-4AD7-9C32-16A5E7BDDD98}" srcId="{26D1641C-C311-4298-8C3D-652AA7B7A33E}" destId="{FC51053D-645F-4521-9EE2-485257B17FC0}" srcOrd="1" destOrd="0" parTransId="{2F1555E2-59DA-4554-A459-D340888CBC03}" sibTransId="{6DCA4680-C1E1-45A8-85F1-919348837636}"/>
    <dgm:cxn modelId="{6C5088C8-8875-4FE1-BDC2-1C4071B3B859}" type="presOf" srcId="{FC51053D-645F-4521-9EE2-485257B17FC0}" destId="{B6922AEA-2939-4219-9509-739307262E6F}" srcOrd="0" destOrd="0" presId="urn:microsoft.com/office/officeart/2005/8/layout/vList2"/>
    <dgm:cxn modelId="{3220F9E4-956F-443E-A6E2-31D2B48F1DAE}" type="presOf" srcId="{5D9450DA-E1FB-4B8B-B0B0-3C13E396F371}" destId="{7EC6AB54-A73D-4637-8C30-346ABF5FD58F}" srcOrd="0" destOrd="0" presId="urn:microsoft.com/office/officeart/2005/8/layout/vList2"/>
    <dgm:cxn modelId="{AF0A32F0-E9AA-4179-A5D0-9AA9D017A8FB}" type="presOf" srcId="{5C7A3E9C-16A8-40EA-947C-09FED00A3582}" destId="{EC7D1394-A6F1-4FEB-B6CE-F68B04CD38E7}" srcOrd="0" destOrd="0" presId="urn:microsoft.com/office/officeart/2005/8/layout/vList2"/>
    <dgm:cxn modelId="{BA81D641-0DDB-493C-8D9A-9856B73B2699}" type="presParOf" srcId="{1908539C-9E16-426A-8601-F0EE8CE2266F}" destId="{EC7D1394-A6F1-4FEB-B6CE-F68B04CD38E7}" srcOrd="0" destOrd="0" presId="urn:microsoft.com/office/officeart/2005/8/layout/vList2"/>
    <dgm:cxn modelId="{93329874-F51F-4753-837D-3104E77C06F3}" type="presParOf" srcId="{1908539C-9E16-426A-8601-F0EE8CE2266F}" destId="{C38E6B10-A851-4636-88D1-EC863A2B6226}" srcOrd="1" destOrd="0" presId="urn:microsoft.com/office/officeart/2005/8/layout/vList2"/>
    <dgm:cxn modelId="{C0E32FAC-4FDD-4EEE-9415-47871EF97F94}" type="presParOf" srcId="{1908539C-9E16-426A-8601-F0EE8CE2266F}" destId="{B6922AEA-2939-4219-9509-739307262E6F}" srcOrd="2" destOrd="0" presId="urn:microsoft.com/office/officeart/2005/8/layout/vList2"/>
    <dgm:cxn modelId="{AA626531-3B74-4AE4-A733-0390F2219A30}" type="presParOf" srcId="{1908539C-9E16-426A-8601-F0EE8CE2266F}" destId="{32437764-8508-464B-B609-E6AD58F99D82}" srcOrd="3" destOrd="0" presId="urn:microsoft.com/office/officeart/2005/8/layout/vList2"/>
    <dgm:cxn modelId="{49A4630C-7B07-4C16-AC62-1C4B2231010D}" type="presParOf" srcId="{1908539C-9E16-426A-8601-F0EE8CE2266F}" destId="{7EC6AB54-A73D-4637-8C30-346ABF5FD58F}" srcOrd="4" destOrd="0" presId="urn:microsoft.com/office/officeart/2005/8/layout/vList2"/>
    <dgm:cxn modelId="{B6F7DCE7-0C1D-4B38-93A6-77ECD04AB5B0}" type="presParOf" srcId="{1908539C-9E16-426A-8601-F0EE8CE2266F}" destId="{2E9FC884-A061-49E8-BA10-2CDFBBC408EA}" srcOrd="5" destOrd="0" presId="urn:microsoft.com/office/officeart/2005/8/layout/vList2"/>
    <dgm:cxn modelId="{97DB9327-48B0-4C29-BE74-499AA4DDC7B4}" type="presParOf" srcId="{1908539C-9E16-426A-8601-F0EE8CE2266F}" destId="{BB32ABBC-93D5-4FC6-8699-E7512A5CB11C}" srcOrd="6" destOrd="0" presId="urn:microsoft.com/office/officeart/2005/8/layout/vList2"/>
    <dgm:cxn modelId="{F96CA8FD-0A47-492D-B58D-3F0A7F4233F3}" type="presParOf" srcId="{1908539C-9E16-426A-8601-F0EE8CE2266F}" destId="{1AA83A72-DB02-4CF7-9CB9-4BBF00AC6DD0}" srcOrd="7" destOrd="0" presId="urn:microsoft.com/office/officeart/2005/8/layout/vList2"/>
    <dgm:cxn modelId="{BDCFBFB9-4649-4446-9919-84FE65675696}" type="presParOf" srcId="{1908539C-9E16-426A-8601-F0EE8CE2266F}" destId="{918AF50E-7ACF-42EC-90B2-6AE30DD015F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7D1394-A6F1-4FEB-B6CE-F68B04CD38E7}">
      <dsp:nvSpPr>
        <dsp:cNvPr id="0" name=""/>
        <dsp:cNvSpPr/>
      </dsp:nvSpPr>
      <dsp:spPr>
        <a:xfrm>
          <a:off x="0" y="20002"/>
          <a:ext cx="1051560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 dirty="0"/>
            <a:t>Bevnoty Mamdouh Beshay Bekhit Gerges 2300536</a:t>
          </a:r>
          <a:endParaRPr lang="en-US" sz="3100" kern="1200" dirty="0"/>
        </a:p>
      </dsp:txBody>
      <dsp:txXfrm>
        <a:off x="36296" y="56298"/>
        <a:ext cx="10443008" cy="670943"/>
      </dsp:txXfrm>
    </dsp:sp>
    <dsp:sp modelId="{B6922AEA-2939-4219-9509-739307262E6F}">
      <dsp:nvSpPr>
        <dsp:cNvPr id="0" name=""/>
        <dsp:cNvSpPr/>
      </dsp:nvSpPr>
      <dsp:spPr>
        <a:xfrm>
          <a:off x="0" y="852817"/>
          <a:ext cx="1051560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 dirty="0"/>
            <a:t>Andrew Ashraf Ibrahim 2300540</a:t>
          </a:r>
          <a:endParaRPr lang="en-US" sz="3100" kern="1200" dirty="0"/>
        </a:p>
      </dsp:txBody>
      <dsp:txXfrm>
        <a:off x="36296" y="889113"/>
        <a:ext cx="10443008" cy="670943"/>
      </dsp:txXfrm>
    </dsp:sp>
    <dsp:sp modelId="{7EC6AB54-A73D-4637-8C30-346ABF5FD58F}">
      <dsp:nvSpPr>
        <dsp:cNvPr id="0" name=""/>
        <dsp:cNvSpPr/>
      </dsp:nvSpPr>
      <dsp:spPr>
        <a:xfrm>
          <a:off x="0" y="1685632"/>
          <a:ext cx="1051560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 dirty="0"/>
            <a:t>Amr Danny Aly 2300515</a:t>
          </a:r>
          <a:endParaRPr lang="en-US" sz="3100" kern="1200" dirty="0"/>
        </a:p>
      </dsp:txBody>
      <dsp:txXfrm>
        <a:off x="36296" y="1721928"/>
        <a:ext cx="10443008" cy="670943"/>
      </dsp:txXfrm>
    </dsp:sp>
    <dsp:sp modelId="{BB32ABBC-93D5-4FC6-8699-E7512A5CB11C}">
      <dsp:nvSpPr>
        <dsp:cNvPr id="0" name=""/>
        <dsp:cNvSpPr/>
      </dsp:nvSpPr>
      <dsp:spPr>
        <a:xfrm>
          <a:off x="0" y="2518447"/>
          <a:ext cx="1051560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 dirty="0"/>
            <a:t>Mohamed Mostafa Mohamed Mostafa Elshamy 2300487</a:t>
          </a:r>
          <a:endParaRPr lang="en-US" sz="3100" kern="1200" dirty="0"/>
        </a:p>
      </dsp:txBody>
      <dsp:txXfrm>
        <a:off x="36296" y="2554743"/>
        <a:ext cx="10443008" cy="670943"/>
      </dsp:txXfrm>
    </dsp:sp>
    <dsp:sp modelId="{918AF50E-7ACF-42EC-90B2-6AE30DD015F1}">
      <dsp:nvSpPr>
        <dsp:cNvPr id="0" name=""/>
        <dsp:cNvSpPr/>
      </dsp:nvSpPr>
      <dsp:spPr>
        <a:xfrm>
          <a:off x="0" y="3351263"/>
          <a:ext cx="1051560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 dirty="0"/>
            <a:t>Mohamed Ahmed Mohamed Ahmed Taha Smaha 2300531</a:t>
          </a:r>
          <a:endParaRPr lang="en-US" sz="3100" kern="1200" dirty="0"/>
        </a:p>
      </dsp:txBody>
      <dsp:txXfrm>
        <a:off x="36296" y="3387559"/>
        <a:ext cx="10443008" cy="6709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28808-26D1-4F4B-96F4-F3082078D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008" y="1122362"/>
            <a:ext cx="8816632" cy="357155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0C639-B0CD-4365-98A9-C1E5FF6CF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008" y="5521960"/>
            <a:ext cx="8816632" cy="94487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80C52-E6BB-4B27-B5D8-2D33B2497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7C649-4A0C-4EF2-8FC1-2BCF0BF9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E03F2-D0FE-49BB-8AEC-E99C4DB2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A7CC8F-56A6-423D-B67A-8BA89D3EC911}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278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338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9F01F-198D-4AAD-B4FB-AD3B44981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9438640" cy="4114800"/>
          </a:xfrm>
        </p:spPr>
        <p:txBody>
          <a:bodyPr anchor="t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BCC2B-311B-4FB6-B3A5-26F68055A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217160"/>
            <a:ext cx="9438640" cy="802640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CB73D-2D6B-4FA6-89A4-DCC89F80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0C188-FF43-44C1-A005-679168D5F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D1188-DA27-47B2-8176-31193EEC4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472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B5A25-7E99-42A8-8D6D-648EFE20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501DC-62B7-42BD-A941-D34E92719C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79"/>
            <a:ext cx="5181600" cy="4165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5C5C1-4FD4-4958-99A0-BDADECA33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11679"/>
            <a:ext cx="5181600" cy="4165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1B234-5D54-44E5-B41D-B205AAF50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7BCDB-6B96-45D6-B5E9-823A96EB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39C5F-F16F-4AFD-98D1-FA3BB96AF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875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44C1F-0040-4BBF-81A6-FD2E30637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7978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894A7-1DA1-44C1-8ED0-716279430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824035"/>
            <a:ext cx="4997132" cy="681040"/>
          </a:xfrm>
        </p:spPr>
        <p:txBody>
          <a:bodyPr anchor="b"/>
          <a:lstStyle>
            <a:lvl1pPr marL="0" indent="0">
              <a:buNone/>
              <a:defRPr sz="2400" b="1" i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AB945-31E2-4B60-9076-CBB8F8594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499713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1B3EA-2E84-4B8B-A104-81BD57742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5080" y="1824035"/>
            <a:ext cx="5000308" cy="681040"/>
          </a:xfrm>
        </p:spPr>
        <p:txBody>
          <a:bodyPr anchor="b"/>
          <a:lstStyle>
            <a:lvl1pPr marL="0" indent="0">
              <a:buNone/>
              <a:defRPr sz="2400" b="1" i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11AB8-302C-476E-B80A-AA739911E3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5080" y="2505075"/>
            <a:ext cx="500030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B47C29-FE34-4E6E-9921-78C54673A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6B420-A9CE-4BB6-A653-5C3ABC7D6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1DF8FE-1179-4798-B16D-AF1DFA26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309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6F1A-0A68-4048-808F-CD7A9F3B0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9592"/>
            <a:ext cx="10515600" cy="157322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ACB3E6-5365-48F5-8D2A-0B002BA35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D8EE9-4D97-4B2F-8D38-41CB9EE77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C5952-0A27-4FAB-A3FD-12003787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1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D08427-909D-4679-9192-BC99557A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8E39A6-1E09-42B5-85B4-7E8B5AB2A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38940-01DD-4C97-8649-E01C3B0E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69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93B3D-D568-40B4-A73A-1C8EA9AB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691818" cy="1701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86EB3-917A-43B7-85BB-D00B5D2F0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4798" y="987425"/>
            <a:ext cx="5840589" cy="50323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AC029-3BC1-4637-A7F9-BC786DC26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372360"/>
            <a:ext cx="3691817" cy="349662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0B948-89C5-4AC5-B7A0-17136F5C5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6C8C5-652F-46CB-BD26-E262B057F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B50CB-E91F-4B71-81F0-800F2B51A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69B885-FDB8-4C62-A285-A0CDC49A6B0C}"/>
              </a:ext>
            </a:extLst>
          </p:cNvPr>
          <p:cNvCxnSpPr>
            <a:cxnSpLocks/>
          </p:cNvCxnSpPr>
          <p:nvPr/>
        </p:nvCxnSpPr>
        <p:spPr>
          <a:xfrm>
            <a:off x="502320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105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941E-6445-4840-81AE-104EF7A4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696652" cy="1701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F8B866-E32B-4AE7-AEF3-6974AE3288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86120" y="838200"/>
            <a:ext cx="560323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ABB7A-E157-499A-B224-C2313181F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367280"/>
            <a:ext cx="3696652" cy="350170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77283-E2B8-405E-BB6E-9F121140E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21F05-EB94-417F-B19B-96FF3D9E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7C3C7-B6DB-4064-8E66-9FB770C8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E233FA-220A-423F-907E-5F81526A28A0}"/>
              </a:ext>
            </a:extLst>
          </p:cNvPr>
          <p:cNvCxnSpPr>
            <a:cxnSpLocks/>
          </p:cNvCxnSpPr>
          <p:nvPr/>
        </p:nvCxnSpPr>
        <p:spPr>
          <a:xfrm>
            <a:off x="502320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011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56D52-667C-4E67-9038-A0BDFD8C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E72AC-0272-475A-BD25-2AB7AC1DE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FBFF2-9ECB-4CDD-87FA-9DD1F87BF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C12B3-DAF5-4BA7-A3A6-D0284716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171AE-4A11-4035-A072-9AC4053FF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93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A52E95-2F50-48D3-B00E-4C259644E7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50174" y="838199"/>
            <a:ext cx="2303626" cy="5338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17C9B-4E02-49C8-B6DF-65ED3C990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38199"/>
            <a:ext cx="7734300" cy="5338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CA10C-AC31-4D80-B78F-08E48CDC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B5B7-F312-4BC9-A5D3-72E065D1B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2E489-5442-4698-B6E3-3421A97C2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3A7E1-F157-4338-B7F7-9C0A2D60B7FF}"/>
              </a:ext>
            </a:extLst>
          </p:cNvPr>
          <p:cNvCxnSpPr>
            <a:cxnSpLocks/>
          </p:cNvCxnSpPr>
          <p:nvPr/>
        </p:nvCxnSpPr>
        <p:spPr>
          <a:xfrm>
            <a:off x="881133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707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6CCBF3A-D7FB-4B97-8FD5-6FFB20CB1E8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360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F626F98-F213-4034-8836-88A71501D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white background with red lines&#10;&#10;AI-generated content may be incorrect.">
            <a:extLst>
              <a:ext uri="{FF2B5EF4-FFF2-40B4-BE49-F238E27FC236}">
                <a16:creationId xmlns:a16="http://schemas.microsoft.com/office/drawing/2014/main" id="{F5362857-6598-0316-2A2E-7E2738C75F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43750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6B3DAACF-D844-4480-94BE-2DE00ABEE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75199" y="726177"/>
            <a:ext cx="5241603" cy="5343721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25805" h="5429563">
                <a:moveTo>
                  <a:pt x="5325805" y="2714782"/>
                </a:moveTo>
                <a:cubicBezTo>
                  <a:pt x="5325805" y="4214114"/>
                  <a:pt x="4110356" y="5429563"/>
                  <a:pt x="2611024" y="5429563"/>
                </a:cubicBezTo>
                <a:lnTo>
                  <a:pt x="1942188" y="5429563"/>
                </a:lnTo>
                <a:lnTo>
                  <a:pt x="668836" y="5429563"/>
                </a:lnTo>
                <a:lnTo>
                  <a:pt x="0" y="5429563"/>
                </a:lnTo>
                <a:lnTo>
                  <a:pt x="0" y="0"/>
                </a:lnTo>
                <a:lnTo>
                  <a:pt x="668836" y="0"/>
                </a:lnTo>
                <a:lnTo>
                  <a:pt x="1942188" y="0"/>
                </a:lnTo>
                <a:lnTo>
                  <a:pt x="2611024" y="0"/>
                </a:lnTo>
                <a:cubicBezTo>
                  <a:pt x="4110356" y="0"/>
                  <a:pt x="5325805" y="1215450"/>
                  <a:pt x="5325805" y="2714782"/>
                </a:cubicBezTo>
                <a:close/>
              </a:path>
            </a:pathLst>
          </a:custGeom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559055-35CB-213D-979D-A0299E1DF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6430"/>
            <a:ext cx="9144000" cy="2820573"/>
          </a:xfrm>
        </p:spPr>
        <p:txBody>
          <a:bodyPr>
            <a:normAutofit/>
          </a:bodyPr>
          <a:lstStyle/>
          <a:p>
            <a:pPr algn="ctr"/>
            <a:r>
              <a:rPr lang="en-GB" sz="6600"/>
              <a:t>Machine learning project 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BBB3E-5E20-E657-D5EB-212D6C499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8856" y="4628271"/>
            <a:ext cx="4054288" cy="1069144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GB" dirty="0"/>
              <a:t>Under engineer:</a:t>
            </a:r>
          </a:p>
          <a:p>
            <a:pPr algn="ctr"/>
            <a:r>
              <a:rPr lang="en-GB" dirty="0"/>
              <a:t>Mohamed Abdelmawgoud Mostafa Khedr</a:t>
            </a:r>
          </a:p>
        </p:txBody>
      </p:sp>
    </p:spTree>
    <p:extLst>
      <p:ext uri="{BB962C8B-B14F-4D97-AF65-F5344CB8AC3E}">
        <p14:creationId xmlns:p14="http://schemas.microsoft.com/office/powerpoint/2010/main" val="356431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FB580-B9F5-D011-3D8C-7E7164FB4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Team members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6182E1-B48F-8F8A-665C-95CBAF5743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7954884"/>
              </p:ext>
            </p:extLst>
          </p:nvPr>
        </p:nvGraphicFramePr>
        <p:xfrm>
          <a:off x="838200" y="2061469"/>
          <a:ext cx="10515600" cy="41148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2782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6E045EA-C386-4DF6-A9BF-C8966A717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7B99A-906F-CA0F-987B-1CF85049D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410" y="2102494"/>
            <a:ext cx="3512558" cy="3207332"/>
          </a:xfrm>
        </p:spPr>
        <p:txBody>
          <a:bodyPr anchor="ctr">
            <a:normAutofit/>
          </a:bodyPr>
          <a:lstStyle/>
          <a:p>
            <a:pPr algn="ctr"/>
            <a:r>
              <a:rPr lang="en-GB" b="1" dirty="0"/>
              <a:t>Project Idea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91612D7-BF13-40AE-9564-EFF5BB6DC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08775" y="1297827"/>
            <a:ext cx="5248765" cy="4195178"/>
          </a:xfrm>
          <a:custGeom>
            <a:avLst/>
            <a:gdLst>
              <a:gd name="connsiteX0" fmla="*/ 5248765 w 5248765"/>
              <a:gd name="connsiteY0" fmla="*/ 2071122 h 4142242"/>
              <a:gd name="connsiteX1" fmla="*/ 3177643 w 5248765"/>
              <a:gd name="connsiteY1" fmla="*/ 4142242 h 4142242"/>
              <a:gd name="connsiteX2" fmla="*/ 2287675 w 5248765"/>
              <a:gd name="connsiteY2" fmla="*/ 4142239 h 4142242"/>
              <a:gd name="connsiteX3" fmla="*/ 2287639 w 5248765"/>
              <a:gd name="connsiteY3" fmla="*/ 4142242 h 4142242"/>
              <a:gd name="connsiteX4" fmla="*/ 0 w 5248765"/>
              <a:gd name="connsiteY4" fmla="*/ 4142237 h 4142242"/>
              <a:gd name="connsiteX5" fmla="*/ 0 w 5248765"/>
              <a:gd name="connsiteY5" fmla="*/ 0 h 4142242"/>
              <a:gd name="connsiteX6" fmla="*/ 3177643 w 5248765"/>
              <a:gd name="connsiteY6" fmla="*/ 1 h 4142242"/>
              <a:gd name="connsiteX7" fmla="*/ 5248765 w 5248765"/>
              <a:gd name="connsiteY7" fmla="*/ 2071122 h 4142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48765" h="4142242">
                <a:moveTo>
                  <a:pt x="5248765" y="2071122"/>
                </a:moveTo>
                <a:cubicBezTo>
                  <a:pt x="5248765" y="3214970"/>
                  <a:pt x="4321493" y="4142242"/>
                  <a:pt x="3177643" y="4142242"/>
                </a:cubicBezTo>
                <a:lnTo>
                  <a:pt x="2287675" y="4142239"/>
                </a:lnTo>
                <a:cubicBezTo>
                  <a:pt x="2287664" y="4142241"/>
                  <a:pt x="2287652" y="4142241"/>
                  <a:pt x="2287639" y="4142242"/>
                </a:cubicBezTo>
                <a:lnTo>
                  <a:pt x="0" y="4142237"/>
                </a:lnTo>
                <a:lnTo>
                  <a:pt x="0" y="0"/>
                </a:lnTo>
                <a:lnTo>
                  <a:pt x="3177643" y="1"/>
                </a:lnTo>
                <a:cubicBezTo>
                  <a:pt x="4321493" y="1"/>
                  <a:pt x="5248765" y="927273"/>
                  <a:pt x="5248765" y="2071122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A2B62-ADDE-BB53-9197-B7E163DFB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3162" y="838201"/>
            <a:ext cx="5060637" cy="5181600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en-GB" sz="4400" dirty="0"/>
              <a:t>Our project idea is to create a machine learning model capable of predicting houses' prices using Jupiter notebook and a dataset from Kaggle.com</a:t>
            </a:r>
          </a:p>
        </p:txBody>
      </p:sp>
    </p:spTree>
    <p:extLst>
      <p:ext uri="{BB962C8B-B14F-4D97-AF65-F5344CB8AC3E}">
        <p14:creationId xmlns:p14="http://schemas.microsoft.com/office/powerpoint/2010/main" val="1519177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E61D288-0167-4242-8263-5BD3DA1DF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902742-7679-9B9A-8353-58D209937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7640"/>
            <a:ext cx="7148746" cy="362204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882FDDB-12BA-4531-A762-4803DABD6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4874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C642D6B-9F1A-64DC-4859-137BA98D4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8746" y="206476"/>
            <a:ext cx="5043252" cy="665152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GB" b="1" u="sng" dirty="0"/>
              <a:t>This script imports essential libraries and modules for data analysis, machine learning, and visualization. Key functionalities include:</a:t>
            </a:r>
          </a:p>
          <a:p>
            <a:pPr>
              <a:lnSpc>
                <a:spcPct val="100000"/>
              </a:lnSpc>
            </a:pPr>
            <a:r>
              <a:rPr lang="en-GB" b="1" dirty="0"/>
              <a:t>Data manipulation (pandas, </a:t>
            </a:r>
            <a:r>
              <a:rPr lang="en-GB" b="1" dirty="0" err="1"/>
              <a:t>numpy</a:t>
            </a:r>
            <a:r>
              <a:rPr lang="en-GB" b="1" dirty="0"/>
              <a:t>).</a:t>
            </a:r>
          </a:p>
          <a:p>
            <a:pPr>
              <a:lnSpc>
                <a:spcPct val="100000"/>
              </a:lnSpc>
            </a:pPr>
            <a:r>
              <a:rPr lang="en-GB" b="1" dirty="0"/>
              <a:t>Visualization (matplotlib, seaborn).</a:t>
            </a:r>
          </a:p>
          <a:p>
            <a:pPr>
              <a:lnSpc>
                <a:spcPct val="100000"/>
              </a:lnSpc>
            </a:pPr>
            <a:r>
              <a:rPr lang="en-GB" b="1" dirty="0"/>
              <a:t>Machine learning models (</a:t>
            </a:r>
            <a:r>
              <a:rPr lang="en-GB" b="1" dirty="0" err="1"/>
              <a:t>LinearRegression</a:t>
            </a:r>
            <a:r>
              <a:rPr lang="en-GB" b="1" dirty="0"/>
              <a:t>, Ridge, Lasso, </a:t>
            </a:r>
            <a:r>
              <a:rPr lang="en-GB" b="1" dirty="0" err="1"/>
              <a:t>RandomForestRegressor</a:t>
            </a:r>
            <a:r>
              <a:rPr lang="en-GB" b="1" dirty="0"/>
              <a:t>, </a:t>
            </a:r>
            <a:r>
              <a:rPr lang="en-GB" b="1" dirty="0" err="1"/>
              <a:t>GradientBoostingRegressor</a:t>
            </a:r>
            <a:r>
              <a:rPr lang="en-GB" b="1" dirty="0"/>
              <a:t>, </a:t>
            </a:r>
            <a:r>
              <a:rPr lang="en-GB" b="1" dirty="0" err="1"/>
              <a:t>DecisionTreeRegressor</a:t>
            </a:r>
            <a:r>
              <a:rPr lang="en-GB" b="1" dirty="0"/>
              <a:t>).</a:t>
            </a:r>
          </a:p>
          <a:p>
            <a:pPr>
              <a:lnSpc>
                <a:spcPct val="100000"/>
              </a:lnSpc>
            </a:pPr>
            <a:r>
              <a:rPr lang="en-GB" b="1" dirty="0"/>
              <a:t>Model evaluation metrics (</a:t>
            </a:r>
            <a:r>
              <a:rPr lang="en-GB" b="1" dirty="0" err="1"/>
              <a:t>mean_squared_error</a:t>
            </a:r>
            <a:r>
              <a:rPr lang="en-GB" b="1" dirty="0"/>
              <a:t>, r2_score, </a:t>
            </a:r>
            <a:r>
              <a:rPr lang="en-GB" b="1" dirty="0" err="1"/>
              <a:t>accuracy_score</a:t>
            </a:r>
            <a:r>
              <a:rPr lang="en-GB" b="1" dirty="0"/>
              <a:t>).</a:t>
            </a:r>
          </a:p>
          <a:p>
            <a:pPr>
              <a:lnSpc>
                <a:spcPct val="100000"/>
              </a:lnSpc>
            </a:pPr>
            <a:r>
              <a:rPr lang="en-GB" b="1" dirty="0"/>
              <a:t>Data preprocessing (</a:t>
            </a:r>
            <a:r>
              <a:rPr lang="en-GB" b="1" dirty="0" err="1"/>
              <a:t>StandardScaler</a:t>
            </a:r>
            <a:r>
              <a:rPr lang="en-GB" b="1" dirty="0"/>
              <a:t>).</a:t>
            </a:r>
          </a:p>
          <a:p>
            <a:pPr>
              <a:lnSpc>
                <a:spcPct val="100000"/>
              </a:lnSpc>
            </a:pPr>
            <a:r>
              <a:rPr lang="en-GB" b="1" dirty="0"/>
              <a:t>Hyperparameter tuning (</a:t>
            </a:r>
            <a:r>
              <a:rPr lang="en-GB" b="1" dirty="0" err="1"/>
              <a:t>GridSearchCV</a:t>
            </a:r>
            <a:r>
              <a:rPr lang="en-GB" b="1" dirty="0"/>
              <a:t>).</a:t>
            </a:r>
          </a:p>
          <a:p>
            <a:pPr>
              <a:lnSpc>
                <a:spcPct val="100000"/>
              </a:lnSpc>
            </a:pPr>
            <a:r>
              <a:rPr lang="en-GB" b="1" dirty="0"/>
              <a:t>Dataset splitting (</a:t>
            </a:r>
            <a:r>
              <a:rPr lang="en-GB" b="1" dirty="0" err="1"/>
              <a:t>train_test_split</a:t>
            </a:r>
            <a:r>
              <a:rPr lang="en-GB" b="1" dirty="0"/>
              <a:t>).</a:t>
            </a:r>
          </a:p>
          <a:p>
            <a:pPr>
              <a:lnSpc>
                <a:spcPct val="100000"/>
              </a:lnSpc>
            </a:pPr>
            <a:r>
              <a:rPr lang="en-GB" b="1" dirty="0"/>
              <a:t>Warning suppression (</a:t>
            </a:r>
            <a:r>
              <a:rPr lang="en-GB" b="1" dirty="0" err="1"/>
              <a:t>warnings.filterwarnings</a:t>
            </a:r>
            <a:r>
              <a:rPr lang="en-GB" b="1" dirty="0"/>
              <a:t>('ignore')).</a:t>
            </a:r>
          </a:p>
        </p:txBody>
      </p:sp>
    </p:spTree>
    <p:extLst>
      <p:ext uri="{BB962C8B-B14F-4D97-AF65-F5344CB8AC3E}">
        <p14:creationId xmlns:p14="http://schemas.microsoft.com/office/powerpoint/2010/main" val="1474919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E61D288-0167-4242-8263-5BD3DA1DF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4CE3FEB-BFBC-EA91-9559-7227F2A23E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6080"/>
            <a:ext cx="7163317" cy="354584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882FDDB-12BA-4531-A762-4803DABD6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4874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4A08E-D955-5F37-124D-1D61EAD49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8746" y="481780"/>
            <a:ext cx="5043254" cy="637621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400" dirty="0"/>
              <a:t>Load the Boston Housing dataset from an Excel file (boston_housing.xlsx) into a pandas </a:t>
            </a:r>
            <a:r>
              <a:rPr lang="en-GB" sz="2400" dirty="0" err="1"/>
              <a:t>DataFrame</a:t>
            </a:r>
            <a:r>
              <a:rPr lang="en-GB" sz="2400" dirty="0"/>
              <a:t>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Verify success by printing a confirmation message and displaying the first 5 rows.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Handle errors (e.g., missing file) using a try-except block, though the error handling is incomplete.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2400" b="1" u="sng" dirty="0"/>
              <a:t>Purpose: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the initial step in a machine learning pipeline to load and inspect data before preprocessing/</a:t>
            </a:r>
            <a:r>
              <a:rPr lang="en-GB" sz="2400" dirty="0" err="1"/>
              <a:t>modeling</a:t>
            </a:r>
            <a:r>
              <a:rPr lang="en-GB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6837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1632296-55BF-450A-8C60-CC2336F5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3D4FDD3-85A9-6037-421F-B833DD103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950047"/>
            <a:ext cx="6278723" cy="332987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7A4A8A3-3062-4846-8297-28B77B507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BB8B4-1991-9B6E-9D96-10F1D971F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722" y="432618"/>
            <a:ext cx="5913277" cy="642538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400" dirty="0"/>
              <a:t>This code block inspects the loaded dataset (</a:t>
            </a:r>
            <a:r>
              <a:rPr lang="en-GB" sz="2400" dirty="0" err="1"/>
              <a:t>df</a:t>
            </a:r>
            <a:r>
              <a:rPr lang="en-GB" sz="2400" dirty="0"/>
              <a:t>) by: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Checking if </a:t>
            </a:r>
            <a:r>
              <a:rPr lang="en-GB" sz="2400" dirty="0" err="1"/>
              <a:t>df</a:t>
            </a:r>
            <a:r>
              <a:rPr lang="en-GB" sz="2400" dirty="0"/>
              <a:t> exists (to avoid errors if loading failed earlier).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Printing key metadata: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Shape: Dimensions of the dataset (rows × columns).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First 5 rows: Sample data for quick inspection.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Data types: Checks for numeric/categorical columns.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Summary statistics: Mean, min, max, quartiles (helps detect outliers or scaling needs).</a:t>
            </a:r>
          </a:p>
        </p:txBody>
      </p:sp>
    </p:spTree>
    <p:extLst>
      <p:ext uri="{BB962C8B-B14F-4D97-AF65-F5344CB8AC3E}">
        <p14:creationId xmlns:p14="http://schemas.microsoft.com/office/powerpoint/2010/main" val="3309883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9B35A07-FB78-4625-AAEB-02CAA2595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omputer code with colorful text&#10;&#10;AI-generated content may be incorrect.">
            <a:extLst>
              <a:ext uri="{FF2B5EF4-FFF2-40B4-BE49-F238E27FC236}">
                <a16:creationId xmlns:a16="http://schemas.microsoft.com/office/drawing/2014/main" id="{898CB139-B97F-BF1B-D269-E4E659283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279138"/>
            <a:ext cx="5023488" cy="103745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82FDDB-12BA-4531-A762-4803DABD6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23488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B2068-871A-EE93-56EA-E44DE79F2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3862" y="838200"/>
            <a:ext cx="5489937" cy="5338761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GB" sz="2400" b="1" u="sng" dirty="0"/>
              <a:t>This code snippet checks for missing values in the </a:t>
            </a:r>
            <a:r>
              <a:rPr lang="en-GB" sz="2400" b="1" u="sng" dirty="0" err="1"/>
              <a:t>DataFrame</a:t>
            </a:r>
            <a:r>
              <a:rPr lang="en-GB" sz="2400" b="1" u="sng" dirty="0"/>
              <a:t> </a:t>
            </a:r>
            <a:r>
              <a:rPr lang="en-GB" sz="2400" b="1" u="sng" dirty="0" err="1"/>
              <a:t>df</a:t>
            </a:r>
            <a:r>
              <a:rPr lang="en-GB" sz="2400" b="1" u="sng" dirty="0"/>
              <a:t> by:</a:t>
            </a:r>
          </a:p>
          <a:p>
            <a:r>
              <a:rPr lang="en-GB" sz="2400" dirty="0"/>
              <a:t>Verifying that </a:t>
            </a:r>
            <a:r>
              <a:rPr lang="en-GB" sz="2400" dirty="0" err="1"/>
              <a:t>df</a:t>
            </a:r>
            <a:r>
              <a:rPr lang="en-GB" sz="2400" dirty="0"/>
              <a:t> exists (to avoid </a:t>
            </a:r>
            <a:r>
              <a:rPr lang="en-GB" sz="2400" dirty="0" err="1"/>
              <a:t>NameError</a:t>
            </a:r>
            <a:r>
              <a:rPr lang="en-GB" sz="2400" dirty="0"/>
              <a:t>).</a:t>
            </a:r>
          </a:p>
          <a:p>
            <a:r>
              <a:rPr lang="en-GB" sz="2400" dirty="0"/>
              <a:t>Counting and displaying null/</a:t>
            </a:r>
            <a:r>
              <a:rPr lang="en-GB" sz="2400" dirty="0" err="1"/>
              <a:t>NaN</a:t>
            </a:r>
            <a:r>
              <a:rPr lang="en-GB" sz="2400" dirty="0"/>
              <a:t> values per column.</a:t>
            </a:r>
          </a:p>
          <a:p>
            <a:pPr marL="0" indent="0">
              <a:buNone/>
            </a:pPr>
            <a:r>
              <a:rPr lang="en-GB" sz="2400" b="1" u="sng" dirty="0"/>
              <a:t>Purpose:</a:t>
            </a:r>
          </a:p>
          <a:p>
            <a:r>
              <a:rPr lang="en-GB" sz="2400" dirty="0"/>
              <a:t>Critical for data cleaning before </a:t>
            </a:r>
            <a:r>
              <a:rPr lang="en-GB" sz="2400" dirty="0" err="1"/>
              <a:t>modeling</a:t>
            </a:r>
            <a:r>
              <a:rPr lang="en-GB" sz="2400" dirty="0"/>
              <a:t> (missing values can break ML algorithms).</a:t>
            </a:r>
          </a:p>
          <a:p>
            <a:r>
              <a:rPr lang="en-GB" sz="2400" dirty="0"/>
              <a:t>Helps decide whether to drop rows/columns with missing values or impute values (e.g., mean/median).</a:t>
            </a:r>
          </a:p>
        </p:txBody>
      </p:sp>
    </p:spTree>
    <p:extLst>
      <p:ext uri="{BB962C8B-B14F-4D97-AF65-F5344CB8AC3E}">
        <p14:creationId xmlns:p14="http://schemas.microsoft.com/office/powerpoint/2010/main" val="1901125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61D288-0167-4242-8263-5BD3DA1DF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C8193F6-EACE-3AED-C42F-1E1E31216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8007"/>
            <a:ext cx="7111130" cy="416040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82FDDB-12BA-4531-A762-4803DABD6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4874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0FEF1-5222-A7E1-972A-9303EA105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811" y="838200"/>
            <a:ext cx="3428988" cy="5338761"/>
          </a:xfrm>
        </p:spPr>
        <p:txBody>
          <a:bodyPr>
            <a:normAutofit/>
          </a:bodyPr>
          <a:lstStyle/>
          <a:p>
            <a:r>
              <a:rPr lang="en-GB" sz="2400" dirty="0"/>
              <a:t>Removes outliers from all numeric features (excluding the target MEDV) using the IQR method.</a:t>
            </a:r>
          </a:p>
          <a:p>
            <a:r>
              <a:rPr lang="en-GB" sz="2400" dirty="0"/>
              <a:t>Preserves rows where values fall within [Q1 - 1.5*IQR, Q3 + 1.5*IQR].</a:t>
            </a:r>
          </a:p>
        </p:txBody>
      </p:sp>
    </p:spTree>
    <p:extLst>
      <p:ext uri="{BB962C8B-B14F-4D97-AF65-F5344CB8AC3E}">
        <p14:creationId xmlns:p14="http://schemas.microsoft.com/office/powerpoint/2010/main" val="712744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61D288-0167-4242-8263-5BD3DA1DF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FBD3BEB3-3193-6852-F0A0-D955775A1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6533"/>
            <a:ext cx="7169804" cy="284999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82FDDB-12BA-4531-A762-4803DABD6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4874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14BB9-C684-A15B-06FE-1666F810F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8158" y="719061"/>
            <a:ext cx="4129541" cy="541987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b="1" u="sng"/>
              <a:t>This code plots how house prices (MEDV) change based on 3 features (RM, LSTAT, PTRATIO), showing:</a:t>
            </a:r>
          </a:p>
          <a:p>
            <a:r>
              <a:rPr lang="en-GB" sz="2400"/>
              <a:t>Upward lines = Good for prices </a:t>
            </a:r>
          </a:p>
          <a:p>
            <a:r>
              <a:rPr lang="en-GB" sz="2400"/>
              <a:t>Downward lines = Bad for prices </a:t>
            </a:r>
          </a:p>
          <a:p>
            <a:r>
              <a:rPr lang="en-GB" sz="2400"/>
              <a:t>Messy lines = No clear effect.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78363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E61D288-0167-4242-8263-5BD3DA1DF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03BAD7C6-0D2A-4A8E-802D-1331FDA51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3860"/>
            <a:ext cx="7148746" cy="3062177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882FDDB-12BA-4531-A762-4803DABD6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4874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13FC574-BA55-8E1E-F7DA-BDE8CCA13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9125" y="329608"/>
            <a:ext cx="4125422" cy="633700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u="sng" dirty="0"/>
              <a:t>This code creates three scatter plots side by side to analyze the relationship between housing price ('MEDV') and three features:</a:t>
            </a:r>
          </a:p>
          <a:p>
            <a:r>
              <a:rPr lang="en-US" sz="2400" dirty="0"/>
              <a:t>'RM' (average rooms per dwelling)</a:t>
            </a:r>
          </a:p>
          <a:p>
            <a:r>
              <a:rPr lang="en-US" sz="2400" dirty="0"/>
              <a:t>'LSTAT' (percentage of lower-status population)</a:t>
            </a:r>
          </a:p>
          <a:p>
            <a:r>
              <a:rPr lang="en-US" sz="2400" dirty="0"/>
              <a:t>'CRIM' (per capita crime rate) </a:t>
            </a:r>
            <a:r>
              <a:rPr lang="en-US" sz="2400" b="1" u="sng" dirty="0"/>
              <a:t>Purpose</a:t>
            </a:r>
            <a:r>
              <a:rPr lang="en-US" sz="2400" dirty="0"/>
              <a:t>:</a:t>
            </a:r>
          </a:p>
          <a:p>
            <a:r>
              <a:rPr lang="en-US" sz="2400" dirty="0"/>
              <a:t>Quickly visualize how each feature correlates with housing prices for exploratory data analysis (EDA).</a:t>
            </a:r>
          </a:p>
        </p:txBody>
      </p:sp>
    </p:spTree>
    <p:extLst>
      <p:ext uri="{BB962C8B-B14F-4D97-AF65-F5344CB8AC3E}">
        <p14:creationId xmlns:p14="http://schemas.microsoft.com/office/powerpoint/2010/main" val="1716061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E61D288-0167-4242-8263-5BD3DA1DF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4BC649-C0EB-183E-9256-5A6083E11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671145"/>
            <a:ext cx="7148744" cy="3347422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882FDDB-12BA-4531-A762-4803DABD6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4874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0724B93-75EF-2776-E27C-AA3259325A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17218" y="637954"/>
            <a:ext cx="4274287" cy="557146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/>
            <a:r>
              <a:rPr lang="en-US" sz="2400" dirty="0"/>
              <a:t>This Python code creates a bar plot to visualize the average house prices (MEDV) across different age groups of houses.</a:t>
            </a:r>
          </a:p>
          <a:p>
            <a:pPr indent="-228600"/>
            <a:r>
              <a:rPr lang="en-US" sz="2400" b="1" u="sng" dirty="0"/>
              <a:t>Purpose</a:t>
            </a:r>
            <a:r>
              <a:rPr lang="en-US" sz="2400" dirty="0"/>
              <a:t>:</a:t>
            </a:r>
          </a:p>
          <a:p>
            <a:pPr indent="-228600"/>
            <a:r>
              <a:rPr lang="en-US" sz="2400" dirty="0"/>
              <a:t>To compare how house age affects average prices, helping identify trends (e.g., older houses may be cheaper or more expensive depending on the market).</a:t>
            </a:r>
          </a:p>
        </p:txBody>
      </p:sp>
    </p:spTree>
    <p:extLst>
      <p:ext uri="{BB962C8B-B14F-4D97-AF65-F5344CB8AC3E}">
        <p14:creationId xmlns:p14="http://schemas.microsoft.com/office/powerpoint/2010/main" val="2901976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E61D288-0167-4242-8263-5BD3DA1DF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680598-4B5A-5B65-9C1B-4282272C1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0335"/>
            <a:ext cx="7148740" cy="3071568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82FDDB-12BA-4531-A762-4803DABD6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4874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59826-E64F-619C-D8BA-49F373141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89628" y="563526"/>
            <a:ext cx="4348715" cy="5613435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/>
            <a:r>
              <a:rPr lang="en-US" sz="2400" dirty="0"/>
              <a:t>This code creates a side-by-side histogram plot to visualize the distributions of two key variables from a housing dataset:</a:t>
            </a:r>
          </a:p>
          <a:p>
            <a:pPr indent="-228600"/>
            <a:r>
              <a:rPr lang="en-US" sz="2400" b="1" u="sng" dirty="0"/>
              <a:t>Purpose</a:t>
            </a:r>
            <a:r>
              <a:rPr lang="en-US" sz="2400" dirty="0"/>
              <a:t>:</a:t>
            </a:r>
          </a:p>
          <a:p>
            <a:pPr indent="-228600"/>
            <a:r>
              <a:rPr lang="en-US" sz="2400" dirty="0"/>
              <a:t>Left Plot: Shows how house prices are distributed (e.g., normal, skewed, or multi-modal).</a:t>
            </a:r>
          </a:p>
          <a:p>
            <a:pPr indent="-228600"/>
            <a:r>
              <a:rPr lang="en-US" sz="2400" dirty="0"/>
              <a:t>Right Plot: Reveals the distribution of room counts (e.g., common room ranges or outliers).</a:t>
            </a:r>
          </a:p>
        </p:txBody>
      </p:sp>
    </p:spTree>
    <p:extLst>
      <p:ext uri="{BB962C8B-B14F-4D97-AF65-F5344CB8AC3E}">
        <p14:creationId xmlns:p14="http://schemas.microsoft.com/office/powerpoint/2010/main" val="1110370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E61D288-0167-4242-8263-5BD3DA1DF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989F8D-06A8-0B34-EA80-98B0A9D53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2372"/>
            <a:ext cx="7148743" cy="270115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882FDDB-12BA-4531-A762-4803DABD6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4874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7C8AA7-5FF6-9BC8-CE08-EE7DC10E5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1" y="766915"/>
            <a:ext cx="4582627" cy="5931597"/>
          </a:xfrm>
        </p:spPr>
        <p:txBody>
          <a:bodyPr vert="horz" lIns="91440" tIns="45720" rIns="91440" bIns="45720" rtlCol="0">
            <a:noAutofit/>
          </a:bodyPr>
          <a:lstStyle/>
          <a:p>
            <a:pPr indent="-228600"/>
            <a:r>
              <a:rPr lang="en-US" sz="2400" dirty="0"/>
              <a:t>This code creates a pie chart to visualize the proportion of houses in different age groups within a dataset.</a:t>
            </a:r>
          </a:p>
          <a:p>
            <a:pPr indent="-228600"/>
            <a:r>
              <a:rPr lang="en-US" sz="2400" b="1" u="sng" dirty="0"/>
              <a:t>Purpose</a:t>
            </a:r>
            <a:r>
              <a:rPr lang="en-US" sz="2400" dirty="0"/>
              <a:t>:</a:t>
            </a:r>
          </a:p>
          <a:p>
            <a:pPr marL="114300" indent="-342900">
              <a:buFont typeface="Arial" panose="020B0604020202020204" pitchFamily="34" charset="0"/>
              <a:buChar char="•"/>
            </a:pPr>
            <a:r>
              <a:rPr lang="en-US" sz="2400" dirty="0"/>
              <a:t>Quickly compare the relative distribution of houses across age groups (e.g., majority 'Medium’-aged houses).</a:t>
            </a:r>
          </a:p>
          <a:p>
            <a:pPr marL="114300" indent="-342900">
              <a:buFont typeface="Arial" panose="020B0604020202020204" pitchFamily="34" charset="0"/>
              <a:buChar char="•"/>
            </a:pPr>
            <a:r>
              <a:rPr lang="en-US" sz="2400" dirty="0"/>
              <a:t>Useful for real estate market analysis or portfolio overviews.</a:t>
            </a:r>
          </a:p>
        </p:txBody>
      </p:sp>
    </p:spTree>
    <p:extLst>
      <p:ext uri="{BB962C8B-B14F-4D97-AF65-F5344CB8AC3E}">
        <p14:creationId xmlns:p14="http://schemas.microsoft.com/office/powerpoint/2010/main" val="1501350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F602BD-1F37-407A-A476-78B973CEC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00CA7E-42AB-4F9C-8519-0EBCEC0AF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151458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8FCE56-E89F-C91F-8A30-5B75EB50EF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38619" y="1759974"/>
            <a:ext cx="3515180" cy="44122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/>
            <a:r>
              <a:rPr lang="en-GB" sz="2400" b="1" u="sng" dirty="0"/>
              <a:t>Purpose: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Creates a boxplot to </a:t>
            </a:r>
            <a:r>
              <a:rPr lang="en-GB" sz="2400" dirty="0" err="1"/>
              <a:t>analyze</a:t>
            </a:r>
            <a:r>
              <a:rPr lang="en-GB" sz="2400" dirty="0"/>
              <a:t> the distribution of house prices (MEDV) and identify outliers.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1D290B-59AF-CE76-DBB7-B5D61D002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7198"/>
            <a:ext cx="7152263" cy="206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450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CA64F8-9E78-7FBF-ECCB-8E35CB3821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" y="496529"/>
            <a:ext cx="5025728" cy="636147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Calculates correlations between all numeric features and house prices (MEDV)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Identifies top 10 features most strongly correlated with MEDV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Visualizes results in a bar chart for easy interpretation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20C97C-0EA7-4B1B-D49B-7E08F9B17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729" y="1239473"/>
            <a:ext cx="7171244" cy="381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302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3BA03A-4CC7-6F22-C4D3-1E2D8C681B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045110"/>
            <a:ext cx="5004619" cy="4812890"/>
          </a:xfrm>
        </p:spPr>
        <p:txBody>
          <a:bodyPr>
            <a:normAutofit/>
          </a:bodyPr>
          <a:lstStyle/>
          <a:p>
            <a:r>
              <a:rPr lang="en-GB" sz="2400" b="1" u="sng" dirty="0"/>
              <a:t>Purpose: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Splits the dataset into training (80%) and testing (20%) sets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Separates features (X) from the target variable (y = MEDV)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E966D9-ED26-CF28-BFAB-0C251BDA4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619" y="2520634"/>
            <a:ext cx="7344506" cy="141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118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725631-82D2-4DEB-33C3-5B7943E4AD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757128"/>
            <a:ext cx="5041290" cy="5100871"/>
          </a:xfrm>
        </p:spPr>
        <p:txBody>
          <a:bodyPr>
            <a:normAutofit/>
          </a:bodyPr>
          <a:lstStyle/>
          <a:p>
            <a:r>
              <a:rPr lang="en-GB" sz="2400" b="1" u="sng" dirty="0"/>
              <a:t>Purpose: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Makes Data Model-Ready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Prevents Data Leakage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Normalizes Feature Scales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Handles Real-World Data Quirks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72BEBE-B030-9395-9287-225E45459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290" y="1757129"/>
            <a:ext cx="7150710" cy="255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203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F35C88-91D7-423D-42C2-D4700ED76B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86120" y="2595716"/>
            <a:ext cx="5603238" cy="3424083"/>
          </a:xfrm>
        </p:spPr>
        <p:txBody>
          <a:bodyPr>
            <a:normAutofit/>
          </a:bodyPr>
          <a:lstStyle/>
          <a:p>
            <a:r>
              <a:rPr lang="en-GB" sz="2400" b="1" u="sng" dirty="0"/>
              <a:t>Purpose:</a:t>
            </a:r>
          </a:p>
          <a:p>
            <a:r>
              <a:rPr lang="en-GB" sz="2400" dirty="0"/>
              <a:t>Trains a Linear Regression model to predict house prices (MEDV) using the pre-processed features.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5EBDB9-2666-DDD5-60E4-FBFCF6033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3358"/>
            <a:ext cx="4994665" cy="131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589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80B6CF-D23C-B5E6-74F8-01ED1AB392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86120" y="1657101"/>
            <a:ext cx="5603238" cy="4362698"/>
          </a:xfrm>
        </p:spPr>
        <p:txBody>
          <a:bodyPr>
            <a:normAutofit/>
          </a:bodyPr>
          <a:lstStyle/>
          <a:p>
            <a:r>
              <a:rPr lang="en-GB" sz="2400" b="1" u="sng" dirty="0"/>
              <a:t>Purpose: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Compares model performance on seen (train) vs unseen (test)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Detects overfitting (good train but poor test performance)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Provides quantitative benchmarks for model improvement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83AF7E-2267-FA78-9A5D-AA3E5AD0D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7101"/>
            <a:ext cx="4994686" cy="367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29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3D96A6-DC93-FB9A-E280-7ED8388DE1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-1" y="1611145"/>
            <a:ext cx="5036461" cy="4622507"/>
          </a:xfrm>
        </p:spPr>
        <p:txBody>
          <a:bodyPr>
            <a:normAutofit/>
          </a:bodyPr>
          <a:lstStyle/>
          <a:p>
            <a:r>
              <a:rPr lang="en-GB" sz="2400" b="1" u="sng" dirty="0"/>
              <a:t>Purposes: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Predict Home Prices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Identify Value Drivers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Ensure Data Readiness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Provide Transparency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Establish a Baseline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03F6F8-DE3A-89D7-DFA9-C2E0C2A62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461" y="1611145"/>
            <a:ext cx="7155539" cy="363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5836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C0A469-CB66-677B-52E6-EFE5A3F32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86120" y="2038288"/>
            <a:ext cx="5603238" cy="3981511"/>
          </a:xfrm>
        </p:spPr>
        <p:txBody>
          <a:bodyPr>
            <a:normAutofit/>
          </a:bodyPr>
          <a:lstStyle/>
          <a:p>
            <a:r>
              <a:rPr lang="en-GB" sz="2400" b="1" u="sng" dirty="0"/>
              <a:t>Purposes: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Quantify Prediction Accuracy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Reveal Feature Impact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Ensure Transparency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Benchmark Improvements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Guide Business Decisions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E27783-8173-B830-EF35-E1F6AC628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8288"/>
            <a:ext cx="4995727" cy="280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6944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0F833A-BB92-F369-E92E-1F3D5AE5B0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747603"/>
            <a:ext cx="5043948" cy="4591707"/>
          </a:xfrm>
        </p:spPr>
        <p:txBody>
          <a:bodyPr>
            <a:normAutofit/>
          </a:bodyPr>
          <a:lstStyle/>
          <a:p>
            <a:r>
              <a:rPr lang="en-GB" sz="2400" b="1" u="sng" dirty="0"/>
              <a:t>Purposes:</a:t>
            </a:r>
            <a:endParaRPr lang="en-GB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Enable Case-by-Case Predictions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Validate Real-World Applicability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Support Client Conversations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Test Data Pipeline Robustness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5B9A7B-1484-E37A-0B67-A7EBE6142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948" y="1747603"/>
            <a:ext cx="7148052" cy="316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883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3456AA-DDE6-0725-1C7E-14F6566940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86120" y="1917290"/>
            <a:ext cx="5603238" cy="4102509"/>
          </a:xfrm>
        </p:spPr>
        <p:txBody>
          <a:bodyPr>
            <a:normAutofit/>
          </a:bodyPr>
          <a:lstStyle/>
          <a:p>
            <a:r>
              <a:rPr lang="en-GB" sz="2400" b="1" u="sng" dirty="0"/>
              <a:t>Purposes: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Quantify Model Effectiveness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Benchmark Performance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Compare Across Models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Communicate Business Value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Identify Improvement Areas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32288C-8735-6EC2-FB59-5C01F59C3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7948"/>
            <a:ext cx="5046710" cy="165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7899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A7CC8F-56A6-423D-B67A-8BA89D3EC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F65A513-D0E8-41DF-A3C9-73374F512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20F7F2-8756-C351-3CC6-14401F9D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40081"/>
            <a:ext cx="9997440" cy="126121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THANK YOU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BFC86A2E-9B56-322A-F38D-0D438DA518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4977" y="2222648"/>
            <a:ext cx="2486807" cy="248680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C341CBB-153E-47C8-A7C1-B11941C40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385174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VTI">
  <a:themeElements>
    <a:clrScheme name="Custom 1">
      <a:dk1>
        <a:sysClr val="windowText" lastClr="000000"/>
      </a:dk1>
      <a:lt1>
        <a:sysClr val="window" lastClr="FFFFFF"/>
      </a:lt1>
      <a:dk2>
        <a:srgbClr val="2E3A3C"/>
      </a:dk2>
      <a:lt2>
        <a:srgbClr val="EDE9E7"/>
      </a:lt2>
      <a:accent1>
        <a:srgbClr val="898470"/>
      </a:accent1>
      <a:accent2>
        <a:srgbClr val="7A8773"/>
      </a:accent2>
      <a:accent3>
        <a:srgbClr val="8C845E"/>
      </a:accent3>
      <a:accent4>
        <a:srgbClr val="9F7E56"/>
      </a:accent4>
      <a:accent5>
        <a:srgbClr val="9B7E69"/>
      </a:accent5>
      <a:accent6>
        <a:srgbClr val="AA7862"/>
      </a:accent6>
      <a:hlink>
        <a:srgbClr val="7A8773"/>
      </a:hlink>
      <a:folHlink>
        <a:srgbClr val="9F7E56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VTI" id="{309F1D27-9968-4F93-BA7C-3666A757FD2E}" vid="{76D8E8FD-8787-4E56-A14A-C28BF58ABEE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913</Words>
  <Application>Microsoft Office PowerPoint</Application>
  <PresentationFormat>Widescreen</PresentationFormat>
  <Paragraphs>103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Felix Titling</vt:lpstr>
      <vt:lpstr>Goudy Old Style</vt:lpstr>
      <vt:lpstr>ArchwayVTI</vt:lpstr>
      <vt:lpstr>Machine learning project 2025</vt:lpstr>
      <vt:lpstr>Team members</vt:lpstr>
      <vt:lpstr>Project Idea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Bevnoty Mamdouh Beshay</dc:creator>
  <cp:lastModifiedBy>Bevnoty Mamdouh Beshay</cp:lastModifiedBy>
  <cp:revision>11</cp:revision>
  <dcterms:created xsi:type="dcterms:W3CDTF">2025-05-02T14:18:39Z</dcterms:created>
  <dcterms:modified xsi:type="dcterms:W3CDTF">2025-05-02T17:56:45Z</dcterms:modified>
</cp:coreProperties>
</file>